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92" r:id="rId2"/>
  </p:sldIdLst>
  <p:sldSz cx="7543800" cy="5321300"/>
  <p:notesSz cx="6858000" cy="9144000"/>
  <p:embeddedFontLst>
    <p:embeddedFont>
      <p:font typeface="Oleo Script" panose="020B0604020202020204" charset="0"/>
      <p:regular r:id="rId3"/>
      <p:bold r:id="rId4"/>
    </p:embeddedFont>
    <p:embeddedFont>
      <p:font typeface="Public Sans" panose="020B0604020202020204" charset="0"/>
      <p:regular r:id="rId5"/>
      <p:bold r:id="rId6"/>
      <p:italic r:id="rId7"/>
      <p:boldItalic r:id="rId8"/>
    </p:embeddedFont>
    <p:embeddedFont>
      <p:font typeface="Public Sans Bold" panose="020B0604020202020204" charset="0"/>
      <p:regular r:id="rId9"/>
      <p:bold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9E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2" autoAdjust="0"/>
  </p:normalViewPr>
  <p:slideViewPr>
    <p:cSldViewPr>
      <p:cViewPr>
        <p:scale>
          <a:sx n="125" d="100"/>
          <a:sy n="125" d="100"/>
        </p:scale>
        <p:origin x="883" y="-34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presProps" Target="presProps.xml"/><Relationship Id="rId5" Type="http://schemas.openxmlformats.org/officeDocument/2006/relationships/font" Target="fonts/font3.fntdata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sv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B5F02FC-5408-605E-94B8-B45CF9F34D05}"/>
              </a:ext>
            </a:extLst>
          </p:cNvPr>
          <p:cNvSpPr/>
          <p:nvPr/>
        </p:nvSpPr>
        <p:spPr>
          <a:xfrm>
            <a:off x="6096" y="-6350"/>
            <a:ext cx="7552944" cy="5321808"/>
          </a:xfrm>
          <a:custGeom>
            <a:avLst/>
            <a:gdLst/>
            <a:ahLst/>
            <a:cxnLst/>
            <a:rect l="l" t="t" r="r" b="b"/>
            <a:pathLst>
              <a:path w="7552944" h="5321808">
                <a:moveTo>
                  <a:pt x="0" y="0"/>
                </a:moveTo>
                <a:lnTo>
                  <a:pt x="7552944" y="0"/>
                </a:lnTo>
                <a:lnTo>
                  <a:pt x="7552944" y="5321808"/>
                </a:lnTo>
                <a:lnTo>
                  <a:pt x="0" y="53218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1417" t="-4288" r="-3815" b="-6162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79A04EE-AE49-1D15-0F8C-FE0349DA4524}"/>
              </a:ext>
            </a:extLst>
          </p:cNvPr>
          <p:cNvSpPr/>
          <p:nvPr/>
        </p:nvSpPr>
        <p:spPr>
          <a:xfrm flipH="1">
            <a:off x="4333446" y="0"/>
            <a:ext cx="3146252" cy="420811"/>
          </a:xfrm>
          <a:custGeom>
            <a:avLst/>
            <a:gdLst/>
            <a:ahLst/>
            <a:cxnLst/>
            <a:rect l="l" t="t" r="r" b="b"/>
            <a:pathLst>
              <a:path w="3146252" h="420811">
                <a:moveTo>
                  <a:pt x="3146252" y="0"/>
                </a:moveTo>
                <a:lnTo>
                  <a:pt x="0" y="0"/>
                </a:lnTo>
                <a:lnTo>
                  <a:pt x="0" y="420811"/>
                </a:lnTo>
                <a:lnTo>
                  <a:pt x="3146252" y="420811"/>
                </a:lnTo>
                <a:lnTo>
                  <a:pt x="314625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7AAD647-0E80-314B-ABD5-FC77C247D00D}"/>
              </a:ext>
            </a:extLst>
          </p:cNvPr>
          <p:cNvSpPr txBox="1"/>
          <p:nvPr/>
        </p:nvSpPr>
        <p:spPr>
          <a:xfrm>
            <a:off x="2377678" y="154564"/>
            <a:ext cx="2797589" cy="266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8"/>
              </a:lnSpc>
            </a:pPr>
            <a:r>
              <a:rPr lang="en-US" sz="1584" dirty="0">
                <a:solidFill>
                  <a:srgbClr val="149EE9"/>
                </a:solidFill>
                <a:latin typeface="Oleo Script"/>
                <a:ea typeface="Oleo Script"/>
                <a:cs typeface="Oleo Script"/>
                <a:sym typeface="Oleo Script"/>
              </a:rPr>
              <a:t>Department : Computer Engineering</a:t>
            </a: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5C1FB267-1670-1142-3424-361467D24A70}"/>
              </a:ext>
            </a:extLst>
          </p:cNvPr>
          <p:cNvSpPr txBox="1"/>
          <p:nvPr/>
        </p:nvSpPr>
        <p:spPr>
          <a:xfrm>
            <a:off x="759326" y="592194"/>
            <a:ext cx="5908174" cy="2460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799" b="1" spc="-27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Project Title :</a:t>
            </a:r>
            <a:r>
              <a:rPr lang="en-US" sz="799" spc="-27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IN" sz="799" spc="-5" dirty="0">
                <a:solidFill>
                  <a:srgbClr val="000000"/>
                </a:solidFill>
                <a:latin typeface="Public Sans"/>
              </a:rPr>
              <a:t>JARVIS: A Privacy-Aware, Adaptive AI Agent for Android with Persistent Task Execution and Verifiable Tool Use</a:t>
            </a:r>
            <a:endParaRPr lang="en-US" sz="799" spc="-5" dirty="0">
              <a:solidFill>
                <a:srgbClr val="000000"/>
              </a:solidFill>
              <a:latin typeface="Public Sans"/>
              <a:sym typeface="Public Sans"/>
            </a:endParaRPr>
          </a:p>
          <a:p>
            <a:r>
              <a:rPr lang="en-US" sz="799" b="1" spc="-5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Domain (Area of Project) : </a:t>
            </a:r>
            <a:r>
              <a:rPr lang="en-US" sz="799" spc="-5" dirty="0">
                <a:solidFill>
                  <a:srgbClr val="000000"/>
                </a:solidFill>
                <a:latin typeface="Public Sans"/>
                <a:sym typeface="Public Sans"/>
              </a:rPr>
              <a:t>Machine learning, </a:t>
            </a:r>
            <a:r>
              <a:rPr lang="en-IN" sz="800" dirty="0"/>
              <a:t>Mobile Computing (Android)</a:t>
            </a:r>
            <a:endParaRPr lang="en-US" sz="799" spc="-5" dirty="0">
              <a:solidFill>
                <a:srgbClr val="000000"/>
              </a:solidFill>
              <a:latin typeface="Public Sans"/>
              <a:sym typeface="Public Sans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26D17484-779C-4D25-D565-A771FEEE6A27}"/>
              </a:ext>
            </a:extLst>
          </p:cNvPr>
          <p:cNvSpPr txBox="1"/>
          <p:nvPr/>
        </p:nvSpPr>
        <p:spPr>
          <a:xfrm>
            <a:off x="759326" y="2087839"/>
            <a:ext cx="6517774" cy="8006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799" b="1" spc="-11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Brief idea of Project </a:t>
            </a:r>
            <a:r>
              <a:rPr lang="en-US" sz="799" spc="-11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: </a:t>
            </a:r>
            <a:r>
              <a:rPr lang="en-IN" sz="700" spc="-5" dirty="0">
                <a:solidFill>
                  <a:srgbClr val="000000"/>
                </a:solidFill>
                <a:latin typeface="Public Sans"/>
              </a:rPr>
              <a:t>“JARVIS” is a privacy-aware Android personal assistant that turns typed or spoken requests in English, Hinglish and Hindi into actions the user can inspect, approve and verify. Unlike chat-only assistants that may claim a task is done without checking, JARVIS runs actions through a typed tool registry, asks approval for consequential steps, and reports success only after verifying the result. An adaptive router keeps supported commands on-device and uses cloud AI only when needed and permitted, while a central privacy boundary redacts recognised secrets. Key features include persistent reminders, timers and goals, multi-step Plan–Execute–Verify tasks, contextual memory, calendar and phone actions, a sanitized Activity log, and a Research Dashboard with exportable evidence.</a:t>
            </a:r>
            <a:endParaRPr lang="en-US" sz="700" spc="-5" dirty="0">
              <a:solidFill>
                <a:srgbClr val="000000"/>
              </a:solidFill>
              <a:latin typeface="Public Sans"/>
            </a:endParaRPr>
          </a:p>
          <a:p>
            <a:pPr algn="just">
              <a:lnSpc>
                <a:spcPts val="1199"/>
              </a:lnSpc>
            </a:pPr>
            <a:r>
              <a:rPr lang="en-US" sz="799" b="1" spc="-5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Screenshots of the Project / Photos of Working Model (Min.3):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AE15BEC0-8AD9-2D83-68D9-00E69BEC7879}"/>
              </a:ext>
            </a:extLst>
          </p:cNvPr>
          <p:cNvSpPr txBox="1"/>
          <p:nvPr/>
        </p:nvSpPr>
        <p:spPr>
          <a:xfrm>
            <a:off x="743093" y="4116722"/>
            <a:ext cx="6728985" cy="1370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99"/>
              </a:lnSpc>
            </a:pPr>
            <a:endParaRPr lang="en-US" sz="799" b="1" spc="-17" dirty="0">
              <a:solidFill>
                <a:srgbClr val="00000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  <a:p>
            <a:pPr>
              <a:lnSpc>
                <a:spcPts val="1199"/>
              </a:lnSpc>
            </a:pPr>
            <a:r>
              <a:rPr lang="en-US" sz="800" b="1" spc="-17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Applications :</a:t>
            </a:r>
            <a:br>
              <a:rPr lang="en-US" sz="700" b="1" spc="-17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</a:br>
            <a:r>
              <a:rPr lang="en-US" sz="700" b="1" spc="-17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-&gt;</a:t>
            </a:r>
            <a:r>
              <a:rPr lang="en-US" sz="800" b="1" spc="-17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IN" sz="700" spc="-5" dirty="0">
                <a:solidFill>
                  <a:srgbClr val="000000"/>
                </a:solidFill>
                <a:latin typeface="Public Sans"/>
              </a:rPr>
              <a:t>Personal productivity: voice and text reminders, timers, goals and calendar events for students and professionals, with every action visible and approved.</a:t>
            </a:r>
            <a:br>
              <a:rPr lang="en-IN" sz="700" spc="-5" dirty="0">
                <a:solidFill>
                  <a:srgbClr val="000000"/>
                </a:solidFill>
                <a:latin typeface="Public Sans"/>
              </a:rPr>
            </a:br>
            <a:r>
              <a:rPr lang="en-US" sz="700" b="1" spc="-5" dirty="0">
                <a:solidFill>
                  <a:srgbClr val="000000"/>
                </a:solidFill>
                <a:latin typeface="Public Sans"/>
                <a:sym typeface="Public Sans Bold"/>
              </a:rPr>
              <a:t>-&gt; </a:t>
            </a:r>
            <a:r>
              <a:rPr lang="en-IN" sz="700" spc="-5" dirty="0">
                <a:solidFill>
                  <a:srgbClr val="000000"/>
                </a:solidFill>
                <a:latin typeface="Public Sans"/>
              </a:rPr>
              <a:t>Privacy-sensitive assistance: local-first processing for users and organisations who don’t want routine requests or secrets sent to cloud AI.</a:t>
            </a:r>
            <a:r>
              <a:rPr lang="en-US" sz="700" spc="-5" dirty="0">
                <a:solidFill>
                  <a:srgbClr val="000000"/>
                </a:solidFill>
                <a:latin typeface="Public Sans"/>
                <a:sym typeface="Public Sans Bold"/>
              </a:rPr>
              <a:t> </a:t>
            </a:r>
            <a:br>
              <a:rPr lang="en-US" sz="700" spc="-5" dirty="0">
                <a:solidFill>
                  <a:srgbClr val="000000"/>
                </a:solidFill>
                <a:latin typeface="Public Sans"/>
                <a:sym typeface="Public Sans Bold"/>
              </a:rPr>
            </a:br>
            <a:r>
              <a:rPr lang="en-US" sz="700" spc="-5" dirty="0">
                <a:solidFill>
                  <a:srgbClr val="000000"/>
                </a:solidFill>
                <a:latin typeface="Public Sans"/>
                <a:sym typeface="Public Sans Bold"/>
              </a:rPr>
              <a:t>-&gt;</a:t>
            </a:r>
            <a:r>
              <a:rPr lang="en-IN" sz="700" spc="-5" dirty="0">
                <a:solidFill>
                  <a:srgbClr val="000000"/>
                </a:solidFill>
                <a:latin typeface="Public Sans"/>
              </a:rPr>
              <a:t>Multilingual access: an English, Hinglish and Hindi assistant for Indian users who naturally code-mix.</a:t>
            </a:r>
            <a:br>
              <a:rPr lang="en-IN" sz="700" spc="-5" dirty="0">
                <a:solidFill>
                  <a:srgbClr val="000000"/>
                </a:solidFill>
                <a:latin typeface="Public Sans"/>
              </a:rPr>
            </a:br>
            <a:r>
              <a:rPr lang="en-US" sz="700" spc="-5" dirty="0">
                <a:solidFill>
                  <a:srgbClr val="000000"/>
                </a:solidFill>
                <a:latin typeface="Public Sans"/>
                <a:sym typeface="Public Sans Bold"/>
              </a:rPr>
              <a:t>-&gt; </a:t>
            </a:r>
            <a:r>
              <a:rPr lang="en-IN" sz="700" spc="-5" dirty="0">
                <a:solidFill>
                  <a:srgbClr val="000000"/>
                </a:solidFill>
                <a:latin typeface="Public Sans"/>
              </a:rPr>
              <a:t>Hands-free and accessible use: voice-first control for users who find touchscreen navigation difficult.</a:t>
            </a:r>
            <a:endParaRPr lang="en-US" sz="799" b="1" spc="-17" dirty="0">
              <a:solidFill>
                <a:srgbClr val="00000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  <a:p>
            <a:pPr algn="l">
              <a:lnSpc>
                <a:spcPts val="1199"/>
              </a:lnSpc>
            </a:pPr>
            <a:r>
              <a:rPr lang="en-US" sz="799" b="1" spc="-5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Awards/Participation if Any for TPP / Competitions / Paper Publication / Any Other Pls. Specify: --</a:t>
            </a:r>
            <a:br>
              <a:rPr lang="en-US" sz="799" b="1" spc="-5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</a:br>
            <a:r>
              <a:rPr lang="en-US" sz="799" b="1" spc="-5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-&gt; </a:t>
            </a:r>
            <a:r>
              <a:rPr lang="en-US" sz="700" spc="-5" dirty="0">
                <a:solidFill>
                  <a:srgbClr val="000000"/>
                </a:solidFill>
                <a:latin typeface="Public Sans"/>
                <a:sym typeface="Public Sans Bold"/>
              </a:rPr>
              <a:t>NA</a:t>
            </a:r>
            <a:br>
              <a:rPr lang="en-US" sz="799" b="1" spc="-5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</a:br>
            <a:endParaRPr lang="en-US" sz="799" b="1" spc="-5" dirty="0">
              <a:solidFill>
                <a:srgbClr val="00000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8" name="TextBox 14">
            <a:extLst>
              <a:ext uri="{FF2B5EF4-FFF2-40B4-BE49-F238E27FC236}">
                <a16:creationId xmlns:a16="http://schemas.microsoft.com/office/drawing/2014/main" id="{9B28D14F-5D83-9A17-172F-EB571FC26576}"/>
              </a:ext>
            </a:extLst>
          </p:cNvPr>
          <p:cNvSpPr txBox="1"/>
          <p:nvPr/>
        </p:nvSpPr>
        <p:spPr>
          <a:xfrm>
            <a:off x="2873102" y="1017275"/>
            <a:ext cx="4028098" cy="831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199"/>
              </a:lnSpc>
            </a:pPr>
            <a:r>
              <a:rPr lang="en-US" sz="799" b="1" spc="-5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Name of Project Guide :</a:t>
            </a:r>
            <a:r>
              <a:rPr lang="en-US" sz="799" spc="-5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fi-FI" sz="799" spc="-5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Dr. kavita Shirsat (kavita.shirsat@vit.edu.in)</a:t>
            </a:r>
            <a:r>
              <a:rPr lang="en-US" sz="799" spc="-5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) </a:t>
            </a:r>
          </a:p>
          <a:p>
            <a:pPr algn="l">
              <a:lnSpc>
                <a:spcPts val="599"/>
              </a:lnSpc>
            </a:pPr>
            <a:endParaRPr lang="en-US" sz="799" spc="-5" dirty="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>
              <a:lnSpc>
                <a:spcPts val="1199"/>
              </a:lnSpc>
            </a:pPr>
            <a:r>
              <a:rPr lang="en-US" sz="799" b="1" spc="-5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Name of Students :</a:t>
            </a:r>
            <a:r>
              <a:rPr lang="en-US" sz="799" b="1" spc="-5" dirty="0">
                <a:solidFill>
                  <a:srgbClr val="000000"/>
                </a:solidFill>
                <a:latin typeface="Public Sans"/>
                <a:ea typeface="Public Sans Bold"/>
                <a:cs typeface="Public Sans Bold"/>
                <a:sym typeface="Public Sans"/>
              </a:rPr>
              <a:t> </a:t>
            </a:r>
            <a:r>
              <a:rPr lang="fi-FI" sz="799" spc="-5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Hussain Anajwala (hussain.anajwala@vit.edu.in)</a:t>
            </a:r>
            <a:br>
              <a:rPr lang="fi-FI" sz="799" spc="-5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</a:br>
            <a:r>
              <a:rPr lang="fi-FI" sz="799" spc="-5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	Mohammad Equaan Kacchi (equaan.kacchi@vit.edu.in)</a:t>
            </a:r>
            <a:br>
              <a:rPr lang="fi-FI" sz="799" spc="-5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</a:br>
            <a:r>
              <a:rPr lang="fi-FI" sz="799" spc="-5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	Swapnil Supe (swapnil.supe@vit.edu.in)</a:t>
            </a:r>
            <a:br>
              <a:rPr lang="fi-FI" sz="799" spc="-5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</a:br>
            <a:r>
              <a:rPr lang="fi-FI" sz="799" spc="-5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	nilesh patni (nilesh.patni@vit.edu.in)</a:t>
            </a:r>
            <a:endParaRPr lang="en-US" sz="799" spc="-5" dirty="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16" name="Picture 15" descr="A close-up of a gear&#10;&#10;AI-generated content may be incorrect.">
            <a:extLst>
              <a:ext uri="{FF2B5EF4-FFF2-40B4-BE49-F238E27FC236}">
                <a16:creationId xmlns:a16="http://schemas.microsoft.com/office/drawing/2014/main" id="{E331361E-7D4D-AAE7-DEDC-49955AC392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326" y="981703"/>
            <a:ext cx="2021974" cy="1033385"/>
          </a:xfrm>
          <a:prstGeom prst="rect">
            <a:avLst/>
          </a:prstGeom>
          <a:ln w="28575">
            <a:solidFill>
              <a:srgbClr val="00B0F0"/>
            </a:solidFill>
          </a:ln>
        </p:spPr>
      </p:pic>
      <p:pic>
        <p:nvPicPr>
          <p:cNvPr id="17" name="Picture 16" descr="A group of people standing together&#10;&#10;AI-generated content may be incorrect.">
            <a:extLst>
              <a:ext uri="{FF2B5EF4-FFF2-40B4-BE49-F238E27FC236}">
                <a16:creationId xmlns:a16="http://schemas.microsoft.com/office/drawing/2014/main" id="{A1630E38-4DA6-1928-A714-E0808CC9482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326" y="1212851"/>
            <a:ext cx="2021974" cy="802238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8FC5F0DE-8BDC-1CED-E4B7-39BC5D253990}"/>
              </a:ext>
            </a:extLst>
          </p:cNvPr>
          <p:cNvGrpSpPr/>
          <p:nvPr/>
        </p:nvGrpSpPr>
        <p:grpSpPr>
          <a:xfrm>
            <a:off x="864109" y="2889250"/>
            <a:ext cx="2008993" cy="1370119"/>
            <a:chOff x="-2318242" y="-39357"/>
            <a:chExt cx="7872163" cy="5331406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9EE56B41-FC7A-517E-AAED-537B4DD658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318242" y="-29251"/>
              <a:ext cx="2607437" cy="532130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4996FFCC-184F-DA64-B206-1457DE567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46484" y="-39357"/>
              <a:ext cx="2607437" cy="5321300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E55659BC-C4ED-136E-5C24-472C02F1275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2066" y="-39357"/>
              <a:ext cx="2607437" cy="5321300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404F260-2E60-BF7D-6C68-F8EEEC7A4AAC}"/>
              </a:ext>
            </a:extLst>
          </p:cNvPr>
          <p:cNvGrpSpPr/>
          <p:nvPr/>
        </p:nvGrpSpPr>
        <p:grpSpPr>
          <a:xfrm>
            <a:off x="2927122" y="2888443"/>
            <a:ext cx="2321826" cy="1367522"/>
            <a:chOff x="313848" y="178694"/>
            <a:chExt cx="7880511" cy="5328920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99ECB352-A955-F2DB-0F90-EAC85FB2A2F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0385" y="178694"/>
              <a:ext cx="2607437" cy="5321300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B4CCEEC9-1D63-D6A9-5F1B-2D8BC9DDB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6922" y="186314"/>
              <a:ext cx="2607437" cy="5321300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AB8C9071-6454-8D21-7CF6-21140F6351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3848" y="186314"/>
              <a:ext cx="2607437" cy="53213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03026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</TotalTime>
  <Words>390</Words>
  <Application>Microsoft Office PowerPoint</Application>
  <PresentationFormat>Custom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Public Sans Bold</vt:lpstr>
      <vt:lpstr>Calibri</vt:lpstr>
      <vt:lpstr>Arial</vt:lpstr>
      <vt:lpstr>Oleo Script</vt:lpstr>
      <vt:lpstr>Public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CMPN_V-IDEA_2023-24.pptx</dc:title>
  <dc:creator>DELL -</dc:creator>
  <cp:lastModifiedBy>Hussain Anajwala</cp:lastModifiedBy>
  <cp:revision>21</cp:revision>
  <dcterms:created xsi:type="dcterms:W3CDTF">2006-08-16T00:00:00Z</dcterms:created>
  <dcterms:modified xsi:type="dcterms:W3CDTF">2026-10-21T18:40:56Z</dcterms:modified>
  <dc:identifier>DAGblS9Nc5c</dc:identifier>
</cp:coreProperties>
</file>