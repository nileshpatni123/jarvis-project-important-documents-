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92" r:id="rId2"/>
  </p:sldIdLst>
  <p:sldSz cx="7543800" cy="5321300"/>
  <p:notesSz cx="6858000" cy="9144000"/>
  <p:embeddedFontLst>
    <p:embeddedFont>
      <p:font typeface="Oleo Script" panose="020B0604020202020204" charset="0"/>
      <p:regular r:id="rId3"/>
      <p:bold r:id="rId4"/>
    </p:embeddedFont>
    <p:embeddedFont>
      <p:font typeface="Public Sans" panose="020B0604020202020204" charset="0"/>
      <p:regular r:id="rId5"/>
      <p:bold r:id="rId6"/>
      <p:italic r:id="rId7"/>
      <p:boldItalic r:id="rId8"/>
    </p:embeddedFont>
    <p:embeddedFont>
      <p:font typeface="Public Sans Bold" panose="020B0604020202020204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9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127" d="100"/>
          <a:sy n="127" d="100"/>
        </p:scale>
        <p:origin x="852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5F02FC-5408-605E-94B8-B45CF9F34D05}"/>
              </a:ext>
            </a:extLst>
          </p:cNvPr>
          <p:cNvSpPr/>
          <p:nvPr/>
        </p:nvSpPr>
        <p:spPr>
          <a:xfrm>
            <a:off x="6096" y="0"/>
            <a:ext cx="7552944" cy="5321808"/>
          </a:xfrm>
          <a:custGeom>
            <a:avLst/>
            <a:gdLst/>
            <a:ahLst/>
            <a:cxnLst/>
            <a:rect l="l" t="t" r="r" b="b"/>
            <a:pathLst>
              <a:path w="7552944" h="5321808">
                <a:moveTo>
                  <a:pt x="0" y="0"/>
                </a:moveTo>
                <a:lnTo>
                  <a:pt x="7552944" y="0"/>
                </a:lnTo>
                <a:lnTo>
                  <a:pt x="7552944" y="5321808"/>
                </a:lnTo>
                <a:lnTo>
                  <a:pt x="0" y="5321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417" t="-4288" r="-3815" b="-6162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79A04EE-AE49-1D15-0F8C-FE0349DA4524}"/>
              </a:ext>
            </a:extLst>
          </p:cNvPr>
          <p:cNvSpPr/>
          <p:nvPr/>
        </p:nvSpPr>
        <p:spPr>
          <a:xfrm flipH="1">
            <a:off x="4333446" y="0"/>
            <a:ext cx="3146252" cy="420811"/>
          </a:xfrm>
          <a:custGeom>
            <a:avLst/>
            <a:gdLst/>
            <a:ahLst/>
            <a:cxnLst/>
            <a:rect l="l" t="t" r="r" b="b"/>
            <a:pathLst>
              <a:path w="3146252" h="420811">
                <a:moveTo>
                  <a:pt x="3146252" y="0"/>
                </a:moveTo>
                <a:lnTo>
                  <a:pt x="0" y="0"/>
                </a:lnTo>
                <a:lnTo>
                  <a:pt x="0" y="420811"/>
                </a:lnTo>
                <a:lnTo>
                  <a:pt x="3146252" y="420811"/>
                </a:lnTo>
                <a:lnTo>
                  <a:pt x="314625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AAD647-0E80-314B-ABD5-FC77C247D00D}"/>
              </a:ext>
            </a:extLst>
          </p:cNvPr>
          <p:cNvSpPr txBox="1"/>
          <p:nvPr/>
        </p:nvSpPr>
        <p:spPr>
          <a:xfrm>
            <a:off x="2377678" y="154564"/>
            <a:ext cx="2797589" cy="266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8"/>
              </a:lnSpc>
            </a:pPr>
            <a:r>
              <a:rPr lang="en-US" sz="1584" dirty="0">
                <a:solidFill>
                  <a:srgbClr val="149EE9"/>
                </a:solidFill>
                <a:latin typeface="Oleo Script"/>
                <a:ea typeface="Oleo Script"/>
                <a:cs typeface="Oleo Script"/>
                <a:sym typeface="Oleo Script"/>
              </a:rPr>
              <a:t>Department : Computer Engineering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C1FB267-1670-1142-3424-361467D24A70}"/>
              </a:ext>
            </a:extLst>
          </p:cNvPr>
          <p:cNvSpPr txBox="1"/>
          <p:nvPr/>
        </p:nvSpPr>
        <p:spPr>
          <a:xfrm>
            <a:off x="759326" y="592194"/>
            <a:ext cx="4883280" cy="315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799" b="1" spc="-2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Title :</a:t>
            </a:r>
            <a:r>
              <a:rPr lang="en-US" sz="799" spc="-27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799" spc="-27" dirty="0" err="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CyberRealm</a:t>
            </a:r>
            <a:r>
              <a:rPr lang="en-US" sz="799" spc="-27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A Gamified Cybersecurity Education Platform for Teenagers </a:t>
            </a:r>
          </a:p>
          <a:p>
            <a:pPr algn="l">
              <a:lnSpc>
                <a:spcPct val="150000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Domain (Area of Project) : 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 Bold"/>
                <a:cs typeface="Public Sans Bold"/>
                <a:sym typeface="Public Sans"/>
              </a:rPr>
              <a:t>Cybersecurity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, E-Learning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6D17484-779C-4D25-D565-A771FEEE6A27}"/>
              </a:ext>
            </a:extLst>
          </p:cNvPr>
          <p:cNvSpPr txBox="1"/>
          <p:nvPr/>
        </p:nvSpPr>
        <p:spPr>
          <a:xfrm>
            <a:off x="759326" y="2087839"/>
            <a:ext cx="6141874" cy="954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799" b="1" spc="-1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Brief idea of Project </a:t>
            </a:r>
            <a:r>
              <a:rPr lang="en-US" sz="799" spc="-11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: “</a:t>
            </a:r>
            <a:r>
              <a:rPr lang="en-US" sz="800" dirty="0" err="1">
                <a:latin typeface="Public Sans" panose="020B0604020202020204" charset="0"/>
              </a:rPr>
              <a:t>CyberRealm</a:t>
            </a:r>
            <a:r>
              <a:rPr lang="en-US" sz="800" dirty="0">
                <a:latin typeface="Public Sans" panose="020B0604020202020204" charset="0"/>
              </a:rPr>
              <a:t>” is a gamified mobile application designed to revolutionize cybersecurity education for teenagers. Unlike existing costly, non-gamified websites that aren’t beginner-friendly and lack mobile support, </a:t>
            </a:r>
            <a:r>
              <a:rPr lang="en-US" sz="800" dirty="0" err="1">
                <a:latin typeface="Public Sans" panose="020B0604020202020204" charset="0"/>
              </a:rPr>
              <a:t>CyberRealm</a:t>
            </a:r>
            <a:r>
              <a:rPr lang="en-US" sz="800" dirty="0">
                <a:latin typeface="Public Sans" panose="020B0604020202020204" charset="0"/>
              </a:rPr>
              <a:t> offers a dynamic, accessible solution. Key features include Story Mode with narrative-based cyber battles, Live Challenges with multiplayer mini-games and leaderboards, Learning Analytics for personalized progress tracking, Cryptic for hands-on cipher simulations, and AI-Generated Challenges that adapt to each user’s skill level. The app makes learning cybersecurity fun, engaging, and effective.</a:t>
            </a:r>
          </a:p>
          <a:p>
            <a:pPr algn="just"/>
            <a:endParaRPr lang="en-US" sz="400" dirty="0">
              <a:latin typeface="Public Sans" panose="020B0604020202020204" charset="0"/>
            </a:endParaRPr>
          </a:p>
          <a:p>
            <a:pPr algn="just"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Screenshots of the Project / Photos of Working Model (Min.3):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E15BEC0-8AD9-2D83-68D9-00E69BEC7879}"/>
              </a:ext>
            </a:extLst>
          </p:cNvPr>
          <p:cNvSpPr txBox="1"/>
          <p:nvPr/>
        </p:nvSpPr>
        <p:spPr>
          <a:xfrm>
            <a:off x="750713" y="3695260"/>
            <a:ext cx="6141874" cy="157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endParaRPr lang="en-US" sz="799" b="1" spc="-17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1199"/>
              </a:lnSpc>
            </a:pPr>
            <a:endParaRPr lang="en-US" sz="799" b="1" spc="-17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1199"/>
              </a:lnSpc>
            </a:pPr>
            <a:r>
              <a:rPr lang="en-US" sz="799" b="1" spc="-17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Applications :</a:t>
            </a:r>
          </a:p>
          <a:p>
            <a:pPr marL="172719" lvl="1" indent="-86360" algn="l">
              <a:lnSpc>
                <a:spcPts val="1199"/>
              </a:lnSpc>
              <a:buFont typeface="Arial"/>
              <a:buChar char="•"/>
            </a:pPr>
            <a:r>
              <a:rPr lang="en-US" sz="800" dirty="0">
                <a:latin typeface="Public Sans" panose="020B0604020202020204" charset="0"/>
              </a:rPr>
              <a:t>Integration in schools, diploma, and undergraduate curriculums to make cybersecurity education interactive. </a:t>
            </a:r>
          </a:p>
          <a:p>
            <a:pPr marL="172719" lvl="1" indent="-86360" algn="l">
              <a:lnSpc>
                <a:spcPts val="1199"/>
              </a:lnSpc>
              <a:buFont typeface="Arial"/>
              <a:buChar char="•"/>
            </a:pPr>
            <a:r>
              <a:rPr lang="en-IN" sz="800" dirty="0">
                <a:latin typeface="Public Sans" panose="020B0604020202020204" charset="0"/>
              </a:rPr>
              <a:t>Can be used for corporate upskilling</a:t>
            </a:r>
            <a:r>
              <a:rPr lang="en-US" sz="800" dirty="0">
                <a:latin typeface="Public Sans" panose="020B0604020202020204" charset="0"/>
              </a:rPr>
              <a:t> </a:t>
            </a:r>
          </a:p>
          <a:p>
            <a:pPr marL="172719" lvl="1" indent="-86360" algn="l">
              <a:lnSpc>
                <a:spcPts val="1199"/>
              </a:lnSpc>
              <a:buFont typeface="Arial"/>
              <a:buChar char="•"/>
            </a:pPr>
            <a:r>
              <a:rPr lang="en-US" sz="800" dirty="0">
                <a:latin typeface="Public Sans" panose="020B0604020202020204" charset="0"/>
              </a:rPr>
              <a:t>Self-paced learning for teens and young adults.</a:t>
            </a:r>
            <a:endParaRPr lang="en-US" sz="500" dirty="0">
              <a:latin typeface="Public Sans" panose="020B0604020202020204" charset="0"/>
            </a:endParaRPr>
          </a:p>
          <a:p>
            <a:pPr marL="86359" lvl="1" algn="l"/>
            <a:endParaRPr lang="en-US" sz="300" spc="-5" dirty="0">
              <a:solidFill>
                <a:srgbClr val="000000"/>
              </a:solidFill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Awards/Participation if Any for TPP / Competitions / Paper Publication / Any Other Pls. Specify: --</a:t>
            </a:r>
          </a:p>
          <a:p>
            <a:pPr marL="172719" lvl="1" indent="-86360" algn="l">
              <a:lnSpc>
                <a:spcPts val="1199"/>
              </a:lnSpc>
              <a:buFont typeface="Arial"/>
              <a:buChar char="•"/>
            </a:pPr>
            <a:r>
              <a:rPr lang="en-US" sz="800" dirty="0">
                <a:latin typeface="Public Sans" panose="020B0604020202020204" charset="0"/>
              </a:rPr>
              <a:t>Winners of Tantravihar-2024 for our module “Cryptic - Cipher Simulator” in Innovation Track.</a:t>
            </a:r>
          </a:p>
          <a:p>
            <a:pPr marL="172719" lvl="1" indent="-86360" algn="l">
              <a:lnSpc>
                <a:spcPts val="1199"/>
              </a:lnSpc>
              <a:buFont typeface="Arial"/>
              <a:buChar char="•"/>
            </a:pPr>
            <a:r>
              <a:rPr lang="en-US" sz="800" spc="-5" dirty="0">
                <a:solidFill>
                  <a:srgbClr val="000000"/>
                </a:solidFill>
                <a:latin typeface="Public Sans" panose="020B0604020202020204" charset="0"/>
                <a:ea typeface="Public Sans"/>
                <a:cs typeface="Public Sans"/>
                <a:sym typeface="Public Sans"/>
              </a:rPr>
              <a:t>Participation in Tantravihar-2025</a:t>
            </a:r>
            <a:endParaRPr lang="en-US" sz="799" spc="-5" dirty="0">
              <a:solidFill>
                <a:srgbClr val="000000"/>
              </a:solidFill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  <a:p>
            <a:pPr marL="172719" lvl="1" indent="-86360" algn="l">
              <a:lnSpc>
                <a:spcPts val="1199"/>
              </a:lnSpc>
              <a:buFont typeface="Arial"/>
              <a:buChar char="•"/>
            </a:pPr>
            <a:r>
              <a:rPr lang="en-US" sz="800" dirty="0">
                <a:latin typeface="Public Sans" panose="020B0604020202020204" charset="0"/>
              </a:rPr>
              <a:t>Reached finals of Zonal Round in Avishkar 2025 competition.</a:t>
            </a:r>
            <a:endParaRPr lang="en-US" sz="799" spc="-5" dirty="0">
              <a:solidFill>
                <a:srgbClr val="000000"/>
              </a:solidFill>
              <a:latin typeface="Public Sans" panose="020B0604020202020204" charset="0"/>
              <a:ea typeface="Public Sans"/>
              <a:cs typeface="Public Sans"/>
              <a:sym typeface="Public Sans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9B28D14F-5D83-9A17-172F-EB571FC26576}"/>
              </a:ext>
            </a:extLst>
          </p:cNvPr>
          <p:cNvSpPr txBox="1"/>
          <p:nvPr/>
        </p:nvSpPr>
        <p:spPr>
          <a:xfrm>
            <a:off x="2873102" y="1017275"/>
            <a:ext cx="3452465" cy="83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Name of Project Guide :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Dr. Amit Nerurkar (amit.nerurkar@vit.edu.in) </a:t>
            </a:r>
          </a:p>
          <a:p>
            <a:pPr algn="l">
              <a:lnSpc>
                <a:spcPts val="599"/>
              </a:lnSpc>
            </a:pPr>
            <a:endParaRPr lang="en-US" sz="799" spc="-5" dirty="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1199"/>
              </a:lnSpc>
            </a:pPr>
            <a:r>
              <a:rPr lang="en-US" sz="799" b="1" spc="-5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Name of Students :</a:t>
            </a:r>
            <a:r>
              <a:rPr lang="en-US" sz="799" b="1" spc="-5" dirty="0">
                <a:solidFill>
                  <a:srgbClr val="000000"/>
                </a:solidFill>
                <a:latin typeface="Public Sans"/>
                <a:ea typeface="Public Sans Bold"/>
                <a:cs typeface="Public Sans Bold"/>
                <a:sym typeface="Public Sans"/>
              </a:rPr>
              <a:t> </a:t>
            </a: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Sakshi Savardekar (sakshi.savardekar@vit.edu.in)</a:t>
            </a:r>
          </a:p>
          <a:p>
            <a:pPr algn="l">
              <a:lnSpc>
                <a:spcPts val="1199"/>
              </a:lnSpc>
            </a:pP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                         Anuj Ramane (anuj.ramane@vit.edu.in)</a:t>
            </a:r>
          </a:p>
          <a:p>
            <a:pPr algn="l">
              <a:lnSpc>
                <a:spcPts val="1199"/>
              </a:lnSpc>
            </a:pP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                         Ayush Danao (ayush.danao@vit.edu.in)</a:t>
            </a:r>
          </a:p>
          <a:p>
            <a:pPr algn="l">
              <a:lnSpc>
                <a:spcPts val="1199"/>
              </a:lnSpc>
            </a:pPr>
            <a:r>
              <a:rPr lang="en-US" sz="799" spc="-5" dirty="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                         Sharyu Sonavane (sharyu.sonavane@vit.edu.in)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5D09E2-5230-D824-0A42-AA4E82CDDAA4}"/>
              </a:ext>
            </a:extLst>
          </p:cNvPr>
          <p:cNvGrpSpPr/>
          <p:nvPr/>
        </p:nvGrpSpPr>
        <p:grpSpPr>
          <a:xfrm>
            <a:off x="818820" y="3041650"/>
            <a:ext cx="3638880" cy="914400"/>
            <a:chOff x="952500" y="3337205"/>
            <a:chExt cx="2953080" cy="758161"/>
          </a:xfrm>
        </p:grpSpPr>
        <p:pic>
          <p:nvPicPr>
            <p:cNvPr id="10" name="Picture 9" descr="Screens screenshot of a video game&#10;&#10;AI-generated content may be incorrect.">
              <a:extLst>
                <a:ext uri="{FF2B5EF4-FFF2-40B4-BE49-F238E27FC236}">
                  <a16:creationId xmlns:a16="http://schemas.microsoft.com/office/drawing/2014/main" id="{913096D7-4DF6-5F3E-75A9-EE029E6E8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06" b="5426"/>
            <a:stretch/>
          </p:blipFill>
          <p:spPr>
            <a:xfrm>
              <a:off x="1469793" y="3348242"/>
              <a:ext cx="370804" cy="747124"/>
            </a:xfrm>
            <a:prstGeom prst="rect">
              <a:avLst/>
            </a:prstGeom>
          </p:spPr>
        </p:pic>
        <p:pic>
          <p:nvPicPr>
            <p:cNvPr id="11" name="Picture 10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32E24ECB-E9CE-CE8A-0CE8-AC565BC62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07330" y="3346761"/>
              <a:ext cx="365772" cy="747124"/>
            </a:xfrm>
            <a:prstGeom prst="rect">
              <a:avLst/>
            </a:prstGeom>
          </p:spPr>
        </p:pic>
        <p:pic>
          <p:nvPicPr>
            <p:cNvPr id="12" name="Picture 11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4654D9F8-EDF9-161C-658F-0C0CFC077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0117" y="3348242"/>
              <a:ext cx="364780" cy="747124"/>
            </a:xfrm>
            <a:prstGeom prst="rect">
              <a:avLst/>
            </a:prstGeom>
          </p:spPr>
        </p:pic>
        <p:pic>
          <p:nvPicPr>
            <p:cNvPr id="13" name="Picture 12" descr="A person in a hoodie&#10;&#10;AI-generated content may be incorrect.">
              <a:extLst>
                <a:ext uri="{FF2B5EF4-FFF2-40B4-BE49-F238E27FC236}">
                  <a16:creationId xmlns:a16="http://schemas.microsoft.com/office/drawing/2014/main" id="{0D7E44F6-0B1F-C3E6-88E2-C0583A377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3348242"/>
              <a:ext cx="367773" cy="747124"/>
            </a:xfrm>
            <a:prstGeom prst="rect">
              <a:avLst/>
            </a:prstGeom>
          </p:spPr>
        </p:pic>
        <p:pic>
          <p:nvPicPr>
            <p:cNvPr id="14" name="Picture 13" descr="A screenshot of a video game&#10;&#10;AI-generated content may be incorrect.">
              <a:extLst>
                <a:ext uri="{FF2B5EF4-FFF2-40B4-BE49-F238E27FC236}">
                  <a16:creationId xmlns:a16="http://schemas.microsoft.com/office/drawing/2014/main" id="{D504A4C0-3FC4-23AA-F409-40F196DCC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7134" y="3337205"/>
              <a:ext cx="368446" cy="751902"/>
            </a:xfrm>
            <a:prstGeom prst="rect">
              <a:avLst/>
            </a:prstGeom>
          </p:spPr>
        </p:pic>
        <p:pic>
          <p:nvPicPr>
            <p:cNvPr id="15" name="Picture 14" descr="A screenshot of a cell phone&#10;&#10;AI-generated content may be incorrect.">
              <a:extLst>
                <a:ext uri="{FF2B5EF4-FFF2-40B4-BE49-F238E27FC236}">
                  <a16:creationId xmlns:a16="http://schemas.microsoft.com/office/drawing/2014/main" id="{125F43E2-5762-A785-A38C-A7D0A2766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1630" y="3341983"/>
              <a:ext cx="367773" cy="747124"/>
            </a:xfrm>
            <a:prstGeom prst="rect">
              <a:avLst/>
            </a:prstGeom>
          </p:spPr>
        </p:pic>
      </p:grpSp>
      <p:pic>
        <p:nvPicPr>
          <p:cNvPr id="16" name="Picture 15" descr="A close-up of a gear&#10;&#10;AI-generated content may be incorrect.">
            <a:extLst>
              <a:ext uri="{FF2B5EF4-FFF2-40B4-BE49-F238E27FC236}">
                <a16:creationId xmlns:a16="http://schemas.microsoft.com/office/drawing/2014/main" id="{E331361E-7D4D-AAE7-DEDC-49955AC3921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26" y="981703"/>
            <a:ext cx="2021974" cy="1033385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pic>
        <p:nvPicPr>
          <p:cNvPr id="17" name="Picture 16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A1630E38-4DA6-1928-A714-E0808CC9482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26" y="1212851"/>
            <a:ext cx="2021974" cy="80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26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296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Public Sans Bold</vt:lpstr>
      <vt:lpstr>Arial</vt:lpstr>
      <vt:lpstr>Oleo Script</vt:lpstr>
      <vt:lpstr>Calibri</vt:lpstr>
      <vt:lpstr>Public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CMPN_V-IDEA_2023-24.pptx</dc:title>
  <dc:creator>DELL -</dc:creator>
  <cp:lastModifiedBy>Amit Nerurkar</cp:lastModifiedBy>
  <cp:revision>20</cp:revision>
  <dcterms:created xsi:type="dcterms:W3CDTF">2006-08-16T00:00:00Z</dcterms:created>
  <dcterms:modified xsi:type="dcterms:W3CDTF">2026-04-22T12:08:47Z</dcterms:modified>
  <dc:identifier>DAGblS9Nc5c</dc:identifier>
</cp:coreProperties>
</file>